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 type="screen4x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42498528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E2E3E7-55C1-F5EC-4F44-61B6E5B9A6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0A77C9-4BBD-00D0-F27B-2CA5845085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F3AFBF-8C92-B642-4DBA-1DCC5F1CA4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D120ED-2DED-0F87-7AAB-1D4666FBDF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0B7E58-FA45-1EB1-CE80-848E2629C0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A8440-3C3C-B85F-05A9-9199D6B5FC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6D0530-FB33-61AA-6BA5-486DD6BD71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C9E180-9DD3-631E-FF5F-8B0E144763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409044" name="Shape 2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02027"/>
          </a:solidFill>
          <a:ln w="12700">
            <a:solidFill>
              <a:srgbClr val="102027"/>
            </a:solidFill>
          </a:ln>
        </p:spPr>
      </p:sp>
      <p:sp>
        <p:nvSpPr>
          <p:cNvPr id="437566149" name="Shape 3"/>
          <p:cNvSpPr/>
          <p:nvPr/>
        </p:nvSpPr>
        <p:spPr bwMode="auto">
          <a:xfrm>
            <a:off x="0" y="6172200"/>
            <a:ext cx="12191695" cy="685800"/>
          </a:xfrm>
          <a:prstGeom prst="rect">
            <a:avLst/>
          </a:prstGeom>
          <a:solidFill>
            <a:srgbClr val="2F7D79"/>
          </a:solidFill>
          <a:ln w="12700">
            <a:solidFill>
              <a:srgbClr val="2F7D79"/>
            </a:solidFill>
          </a:ln>
        </p:spPr>
      </p:sp>
      <p:sp>
        <p:nvSpPr>
          <p:cNvPr id="1688939626" name="TextBox 4"/>
          <p:cNvSpPr txBox="1"/>
          <p:nvPr/>
        </p:nvSpPr>
        <p:spPr bwMode="auto">
          <a:xfrm>
            <a:off x="640080" y="1722006"/>
            <a:ext cx="107899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sz="2800" b="1" i="0" u="none">
                <a:solidFill>
                  <a:schemeClr val="bg2"/>
                </a:solidFill>
                <a:latin typeface="URW Gothic"/>
                <a:ea typeface="URW Gothic"/>
                <a:cs typeface="URW Gothic"/>
              </a:rPr>
              <a:t>Create domain + VPC access + encryption + logs via Terraform. Acceptance Criteria: Domain reachable internally + security controls verified.</a:t>
            </a:r>
            <a:endParaRPr sz="2400" b="1">
              <a:solidFill>
                <a:schemeClr val="bg2"/>
              </a:solidFill>
              <a:latin typeface="URW Gothic"/>
              <a:cs typeface="URW Gothic"/>
            </a:endParaRPr>
          </a:p>
        </p:txBody>
      </p:sp>
      <p:sp>
        <p:nvSpPr>
          <p:cNvPr id="649500727" name="TextBox 5"/>
          <p:cNvSpPr txBox="1"/>
          <p:nvPr/>
        </p:nvSpPr>
        <p:spPr bwMode="auto">
          <a:xfrm>
            <a:off x="884829" y="4008461"/>
            <a:ext cx="98755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2200" b="0">
                <a:solidFill>
                  <a:srgbClr val="D8E8E7"/>
                </a:solidFill>
              </a:rPr>
              <a:t>A Terraform-built pipeline for collecting, transforming, indexing, and investigating AWS CloudTrail security events.</a:t>
            </a:r>
            <a:endParaRPr/>
          </a:p>
        </p:txBody>
      </p:sp>
      <p:sp>
        <p:nvSpPr>
          <p:cNvPr id="260300068" name="TextBox 6"/>
          <p:cNvSpPr txBox="1"/>
          <p:nvPr/>
        </p:nvSpPr>
        <p:spPr bwMode="auto">
          <a:xfrm>
            <a:off x="685800" y="6327648"/>
            <a:ext cx="7772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600" b="0">
                <a:solidFill>
                  <a:srgbClr val="FFFFFF"/>
                </a:solidFill>
              </a:rPr>
              <a:t>AWS CloudTrail -&gt; Firehose -&gt; Lambda -&gt; OpenSearch</a:t>
            </a:r>
            <a:endParaRPr/>
          </a:p>
        </p:txBody>
      </p:sp>
      <p:sp>
        <p:nvSpPr>
          <p:cNvPr id="1930497004" name="TextBox 7"/>
          <p:cNvSpPr txBox="1"/>
          <p:nvPr/>
        </p:nvSpPr>
        <p:spPr bwMode="auto">
          <a:xfrm>
            <a:off x="9509760" y="6327648"/>
            <a:ext cx="1920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/>
            </a:pPr>
            <a:r>
              <a:rPr lang="en-US" sz="1600" b="0">
                <a:solidFill>
                  <a:srgbClr val="FFFFFF"/>
                </a:solidFill>
              </a:rPr>
              <a:t>May 2026</a:t>
            </a:r>
            <a:endParaRPr/>
          </a:p>
        </p:txBody>
      </p:sp>
      <p:sp>
        <p:nvSpPr>
          <p:cNvPr id="1297296972" name=""/>
          <p:cNvSpPr txBox="1"/>
          <p:nvPr/>
        </p:nvSpPr>
        <p:spPr bwMode="auto">
          <a:xfrm rot="0" flipH="0" flipV="0">
            <a:off x="2930037" y="454925"/>
            <a:ext cx="3876607" cy="8233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>
                <a:solidFill>
                  <a:schemeClr val="bg2"/>
                </a:solidFill>
              </a:rPr>
              <a:t>TICKET #694</a:t>
            </a:r>
            <a:endParaRPr sz="480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836568" name="Shape 8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</a:ln>
        </p:spPr>
      </p:sp>
      <p:sp>
        <p:nvSpPr>
          <p:cNvPr id="1279451459" name="Shape 9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2F7D79"/>
          </a:solidFill>
          <a:ln w="12700">
            <a:solidFill>
              <a:srgbClr val="2F7D79"/>
            </a:solidFill>
          </a:ln>
        </p:spPr>
      </p:sp>
      <p:sp>
        <p:nvSpPr>
          <p:cNvPr id="1382623725" name="TextBox 10"/>
          <p:cNvSpPr txBox="1"/>
          <p:nvPr/>
        </p:nvSpPr>
        <p:spPr bwMode="auto">
          <a:xfrm>
            <a:off x="502920" y="5029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2800" b="1">
                <a:solidFill>
                  <a:srgbClr val="102027"/>
                </a:solidFill>
              </a:rPr>
              <a:t>Purpose And Outcome</a:t>
            </a:r>
            <a:endParaRPr/>
          </a:p>
        </p:txBody>
      </p:sp>
      <p:sp>
        <p:nvSpPr>
          <p:cNvPr id="1674799880" name="TextBox 11"/>
          <p:cNvSpPr txBox="1"/>
          <p:nvPr/>
        </p:nvSpPr>
        <p:spPr bwMode="auto">
          <a:xfrm>
            <a:off x="9509760" y="566928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/>
            </a:pPr>
            <a:r>
              <a:rPr lang="en-US" sz="1200" b="0">
                <a:solidFill>
                  <a:srgbClr val="6B7C80"/>
                </a:solidFill>
              </a:rPr>
              <a:t>Overview</a:t>
            </a:r>
            <a:endParaRPr/>
          </a:p>
        </p:txBody>
      </p:sp>
      <p:sp>
        <p:nvSpPr>
          <p:cNvPr id="1536051484" name="Bullets 12"/>
          <p:cNvSpPr txBox="1"/>
          <p:nvPr/>
        </p:nvSpPr>
        <p:spPr bwMode="auto">
          <a:xfrm flipH="0" flipV="0">
            <a:off x="777240" y="1417319"/>
            <a:ext cx="10698480" cy="5093799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171450">
              <a:buChar char="•"/>
              <a:defRPr/>
            </a:pPr>
            <a:r>
              <a:rPr lang="en-US" sz="2200">
                <a:solidFill>
                  <a:srgbClr val="263238"/>
                </a:solidFill>
              </a:rPr>
              <a:t>Goal: build a SIEM-style AWS pipeline using OpenSearch as the searchable investigation layer.</a:t>
            </a:r>
            <a:endParaRPr lang="en-US" sz="2200">
              <a:solidFill>
                <a:srgbClr val="263238"/>
              </a:solidFill>
            </a:endParaRPr>
          </a:p>
          <a:p>
            <a:pPr marL="285750" indent="-171450">
              <a:buChar char="•"/>
              <a:defRPr/>
            </a:pPr>
            <a:endParaRPr/>
          </a:p>
          <a:p>
            <a:pPr marL="285750" indent="-171450">
              <a:buChar char="•"/>
              <a:defRPr/>
            </a:pPr>
            <a:endParaRPr/>
          </a:p>
          <a:p>
            <a:pPr>
              <a:defRPr/>
            </a:pPr>
            <a:endParaRPr/>
          </a:p>
          <a:p>
            <a:pPr marL="285750" indent="-171450">
              <a:buChar char="•"/>
              <a:defRPr/>
            </a:pPr>
            <a:r>
              <a:rPr lang="en-US" sz="2200">
                <a:solidFill>
                  <a:srgbClr val="263238"/>
                </a:solidFill>
              </a:rPr>
              <a:t>Scope: deploy the infrastructure, verify logs flow end-to-end, access Dashboards privately</a:t>
            </a:r>
            <a:endParaRPr lang="en-US" sz="2200">
              <a:solidFill>
                <a:srgbClr val="263238"/>
              </a:solidFill>
            </a:endParaRPr>
          </a:p>
          <a:p>
            <a:pPr>
              <a:defRPr/>
            </a:pPr>
            <a:endParaRPr lang="en-US" sz="2200">
              <a:solidFill>
                <a:srgbClr val="263238"/>
              </a:solidFill>
            </a:endParaRPr>
          </a:p>
          <a:p>
            <a:pPr marL="285750" indent="-171450">
              <a:buChar char="•"/>
              <a:defRPr/>
            </a:pPr>
            <a:r>
              <a:rPr lang="en-US" sz="2200">
                <a:solidFill>
                  <a:srgbClr val="263238"/>
                </a:solidFill>
              </a:rPr>
              <a:t>Outcome: CloudTrail events from the AWS account were delivered into OpenSearch and visible in Dashboards Discover.</a:t>
            </a:r>
            <a:endParaRPr lang="en-US" sz="2200">
              <a:solidFill>
                <a:srgbClr val="263238"/>
              </a:solidFill>
            </a:endParaRPr>
          </a:p>
          <a:p>
            <a:pPr marL="285750" indent="-171450">
              <a:buChar char="•"/>
              <a:defRPr/>
            </a:pPr>
            <a:endParaRPr/>
          </a:p>
          <a:p>
            <a:pPr marL="285750" indent="-171450">
              <a:buChar char="•"/>
              <a:defRPr/>
            </a:pPr>
            <a:endParaRPr/>
          </a:p>
          <a:p>
            <a:pPr marL="285750" indent="-171450">
              <a:buChar char="•"/>
              <a:defRPr/>
            </a:pPr>
            <a:r>
              <a:rPr lang="en-US" sz="2200">
                <a:solidFill>
                  <a:srgbClr val="263238"/>
                </a:solidFill>
                <a:highlight>
                  <a:srgbClr val="FFFF00"/>
                </a:highlight>
              </a:rPr>
              <a:t>Positioning: this is a working SIEM foundation; detection rules, alerting, dashboards, and incident workflows are next.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196869" name="Shape 16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</a:ln>
        </p:spPr>
      </p:sp>
      <p:sp>
        <p:nvSpPr>
          <p:cNvPr id="903435864" name="Shape 17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2F7D79"/>
          </a:solidFill>
          <a:ln w="12700">
            <a:solidFill>
              <a:srgbClr val="2F7D79"/>
            </a:solidFill>
          </a:ln>
        </p:spPr>
      </p:sp>
      <p:sp>
        <p:nvSpPr>
          <p:cNvPr id="777845076" name="TextBox 18"/>
          <p:cNvSpPr txBox="1"/>
          <p:nvPr/>
        </p:nvSpPr>
        <p:spPr bwMode="auto">
          <a:xfrm>
            <a:off x="502920" y="5029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2800" b="1">
                <a:solidFill>
                  <a:srgbClr val="102027"/>
                </a:solidFill>
              </a:rPr>
              <a:t>Architecture: AWS SIEM Ingestion Pipeline</a:t>
            </a:r>
            <a:endParaRPr/>
          </a:p>
        </p:txBody>
      </p:sp>
      <p:sp>
        <p:nvSpPr>
          <p:cNvPr id="1069417340" name="TextBox 19"/>
          <p:cNvSpPr txBox="1"/>
          <p:nvPr/>
        </p:nvSpPr>
        <p:spPr bwMode="auto">
          <a:xfrm>
            <a:off x="9509760" y="566928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/>
            </a:pPr>
            <a:r>
              <a:rPr lang="en-US" sz="1200" b="0">
                <a:solidFill>
                  <a:srgbClr val="6B7C80"/>
                </a:solidFill>
              </a:rPr>
              <a:t>Design</a:t>
            </a:r>
            <a:endParaRPr/>
          </a:p>
        </p:txBody>
      </p:sp>
      <p:sp>
        <p:nvSpPr>
          <p:cNvPr id="125593253" name="Shape 20"/>
          <p:cNvSpPr/>
          <p:nvPr/>
        </p:nvSpPr>
        <p:spPr bwMode="auto">
          <a:xfrm>
            <a:off x="502920" y="2057400"/>
            <a:ext cx="114300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DB8B5"/>
            </a:solidFill>
          </a:ln>
        </p:spPr>
      </p:sp>
      <p:sp>
        <p:nvSpPr>
          <p:cNvPr id="729292296" name="TextBox 21"/>
          <p:cNvSpPr txBox="1"/>
          <p:nvPr/>
        </p:nvSpPr>
        <p:spPr bwMode="auto">
          <a:xfrm>
            <a:off x="576072" y="222199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AWS Account</a:t>
            </a:r>
            <a:endParaRPr/>
          </a:p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Activity</a:t>
            </a:r>
            <a:endParaRPr/>
          </a:p>
        </p:txBody>
      </p:sp>
      <p:sp>
        <p:nvSpPr>
          <p:cNvPr id="1279315485" name="Shape 22"/>
          <p:cNvSpPr/>
          <p:nvPr/>
        </p:nvSpPr>
        <p:spPr bwMode="auto">
          <a:xfrm>
            <a:off x="1920240" y="2057400"/>
            <a:ext cx="114300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DB8B5"/>
            </a:solidFill>
          </a:ln>
        </p:spPr>
      </p:sp>
      <p:sp>
        <p:nvSpPr>
          <p:cNvPr id="621119481" name="TextBox 23"/>
          <p:cNvSpPr txBox="1"/>
          <p:nvPr/>
        </p:nvSpPr>
        <p:spPr bwMode="auto">
          <a:xfrm>
            <a:off x="1993392" y="222199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CloudTrail</a:t>
            </a:r>
            <a:endParaRPr/>
          </a:p>
        </p:txBody>
      </p:sp>
      <p:sp>
        <p:nvSpPr>
          <p:cNvPr id="1764740485" name="Shape 24"/>
          <p:cNvSpPr/>
          <p:nvPr/>
        </p:nvSpPr>
        <p:spPr bwMode="auto">
          <a:xfrm>
            <a:off x="3337560" y="2057400"/>
            <a:ext cx="114300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DB8B5"/>
            </a:solidFill>
          </a:ln>
        </p:spPr>
      </p:sp>
      <p:sp>
        <p:nvSpPr>
          <p:cNvPr id="33862998" name="TextBox 25"/>
          <p:cNvSpPr txBox="1"/>
          <p:nvPr/>
        </p:nvSpPr>
        <p:spPr bwMode="auto">
          <a:xfrm>
            <a:off x="3410712" y="222199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CloudWatch</a:t>
            </a:r>
            <a:endParaRPr/>
          </a:p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Logs</a:t>
            </a:r>
            <a:endParaRPr/>
          </a:p>
        </p:txBody>
      </p:sp>
      <p:sp>
        <p:nvSpPr>
          <p:cNvPr id="1045909481" name="Shape 26"/>
          <p:cNvSpPr/>
          <p:nvPr/>
        </p:nvSpPr>
        <p:spPr bwMode="auto">
          <a:xfrm>
            <a:off x="4754880" y="2057400"/>
            <a:ext cx="114300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DB8B5"/>
            </a:solidFill>
          </a:ln>
        </p:spPr>
      </p:sp>
      <p:sp>
        <p:nvSpPr>
          <p:cNvPr id="1286447992" name="TextBox 27"/>
          <p:cNvSpPr txBox="1"/>
          <p:nvPr/>
        </p:nvSpPr>
        <p:spPr bwMode="auto">
          <a:xfrm>
            <a:off x="4828032" y="222199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Subscription</a:t>
            </a:r>
            <a:endParaRPr/>
          </a:p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Filter</a:t>
            </a:r>
            <a:endParaRPr/>
          </a:p>
        </p:txBody>
      </p:sp>
      <p:sp>
        <p:nvSpPr>
          <p:cNvPr id="630126862" name="Shape 28"/>
          <p:cNvSpPr/>
          <p:nvPr/>
        </p:nvSpPr>
        <p:spPr bwMode="auto">
          <a:xfrm>
            <a:off x="6172200" y="2057400"/>
            <a:ext cx="114300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DB8B5"/>
            </a:solidFill>
          </a:ln>
        </p:spPr>
      </p:sp>
      <p:sp>
        <p:nvSpPr>
          <p:cNvPr id="571031031" name="TextBox 29"/>
          <p:cNvSpPr txBox="1"/>
          <p:nvPr/>
        </p:nvSpPr>
        <p:spPr bwMode="auto">
          <a:xfrm>
            <a:off x="6245352" y="222199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Kinesis</a:t>
            </a:r>
            <a:endParaRPr/>
          </a:p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Firehose</a:t>
            </a:r>
            <a:endParaRPr/>
          </a:p>
        </p:txBody>
      </p:sp>
      <p:sp>
        <p:nvSpPr>
          <p:cNvPr id="1396130297" name="Shape 30"/>
          <p:cNvSpPr/>
          <p:nvPr/>
        </p:nvSpPr>
        <p:spPr bwMode="auto">
          <a:xfrm>
            <a:off x="7589520" y="2057400"/>
            <a:ext cx="114300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DB8B5"/>
            </a:solidFill>
          </a:ln>
        </p:spPr>
      </p:sp>
      <p:sp>
        <p:nvSpPr>
          <p:cNvPr id="365493916" name="TextBox 31"/>
          <p:cNvSpPr txBox="1"/>
          <p:nvPr/>
        </p:nvSpPr>
        <p:spPr bwMode="auto">
          <a:xfrm>
            <a:off x="7662672" y="222199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Lambda</a:t>
            </a:r>
            <a:endParaRPr/>
          </a:p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Transformer</a:t>
            </a:r>
            <a:endParaRPr/>
          </a:p>
        </p:txBody>
      </p:sp>
      <p:sp>
        <p:nvSpPr>
          <p:cNvPr id="55911080" name="Shape 32"/>
          <p:cNvSpPr/>
          <p:nvPr/>
        </p:nvSpPr>
        <p:spPr bwMode="auto">
          <a:xfrm>
            <a:off x="9006840" y="2057400"/>
            <a:ext cx="114300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DB8B5"/>
            </a:solidFill>
          </a:ln>
        </p:spPr>
      </p:sp>
      <p:sp>
        <p:nvSpPr>
          <p:cNvPr id="2079239238" name="TextBox 33"/>
          <p:cNvSpPr txBox="1"/>
          <p:nvPr/>
        </p:nvSpPr>
        <p:spPr bwMode="auto">
          <a:xfrm>
            <a:off x="9079992" y="222199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OpenSearch</a:t>
            </a:r>
            <a:endParaRPr/>
          </a:p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cloudtrail-logs*</a:t>
            </a:r>
            <a:endParaRPr/>
          </a:p>
        </p:txBody>
      </p:sp>
      <p:sp>
        <p:nvSpPr>
          <p:cNvPr id="273382344" name="Shape 34"/>
          <p:cNvSpPr/>
          <p:nvPr/>
        </p:nvSpPr>
        <p:spPr bwMode="auto">
          <a:xfrm>
            <a:off x="10424160" y="2057400"/>
            <a:ext cx="1143000" cy="86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DB8B5"/>
            </a:solidFill>
          </a:ln>
        </p:spPr>
      </p:sp>
      <p:sp>
        <p:nvSpPr>
          <p:cNvPr id="1823545335" name="TextBox 35"/>
          <p:cNvSpPr txBox="1"/>
          <p:nvPr/>
        </p:nvSpPr>
        <p:spPr bwMode="auto">
          <a:xfrm>
            <a:off x="10497312" y="2221992"/>
            <a:ext cx="1005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Dashboards</a:t>
            </a:r>
            <a:endParaRPr/>
          </a:p>
          <a:p>
            <a:pPr algn="ctr">
              <a:defRPr/>
            </a:pPr>
            <a:r>
              <a:rPr lang="en-US" sz="1200" b="1">
                <a:solidFill>
                  <a:srgbClr val="102027"/>
                </a:solidFill>
              </a:rPr>
              <a:t>Discover</a:t>
            </a:r>
            <a:endParaRPr/>
          </a:p>
        </p:txBody>
      </p:sp>
      <p:cxnSp>
        <p:nvCxnSpPr>
          <p:cNvPr id="826099542" name="Line 36"/>
          <p:cNvCxnSpPr/>
          <p:nvPr/>
        </p:nvCxnSpPr>
        <p:spPr bwMode="auto">
          <a:xfrm>
            <a:off x="1645920" y="2496312"/>
            <a:ext cx="274320" cy="0"/>
          </a:xfrm>
          <a:prstGeom prst="line">
            <a:avLst/>
          </a:prstGeom>
          <a:ln w="25400">
            <a:solidFill>
              <a:srgbClr val="477A7B"/>
            </a:solidFill>
            <a:tailEnd type="triangle"/>
          </a:ln>
        </p:spPr>
      </p:cxnSp>
      <p:cxnSp>
        <p:nvCxnSpPr>
          <p:cNvPr id="704111887" name="Line 36"/>
          <p:cNvCxnSpPr/>
          <p:nvPr/>
        </p:nvCxnSpPr>
        <p:spPr bwMode="auto">
          <a:xfrm>
            <a:off x="3063240" y="2496312"/>
            <a:ext cx="274319" cy="0"/>
          </a:xfrm>
          <a:prstGeom prst="line">
            <a:avLst/>
          </a:prstGeom>
          <a:ln w="25400">
            <a:solidFill>
              <a:srgbClr val="477A7B"/>
            </a:solidFill>
            <a:tailEnd type="triangle"/>
          </a:ln>
        </p:spPr>
      </p:cxnSp>
      <p:cxnSp>
        <p:nvCxnSpPr>
          <p:cNvPr id="286456078" name="Line 36"/>
          <p:cNvCxnSpPr/>
          <p:nvPr/>
        </p:nvCxnSpPr>
        <p:spPr bwMode="auto">
          <a:xfrm>
            <a:off x="4480560" y="2496312"/>
            <a:ext cx="274319" cy="0"/>
          </a:xfrm>
          <a:prstGeom prst="line">
            <a:avLst/>
          </a:prstGeom>
          <a:ln w="25400">
            <a:solidFill>
              <a:srgbClr val="477A7B"/>
            </a:solidFill>
            <a:tailEnd type="triangle"/>
          </a:ln>
        </p:spPr>
      </p:cxnSp>
      <p:cxnSp>
        <p:nvCxnSpPr>
          <p:cNvPr id="1054456244" name="Line 36"/>
          <p:cNvCxnSpPr/>
          <p:nvPr/>
        </p:nvCxnSpPr>
        <p:spPr bwMode="auto">
          <a:xfrm>
            <a:off x="5897880" y="2496312"/>
            <a:ext cx="274319" cy="0"/>
          </a:xfrm>
          <a:prstGeom prst="line">
            <a:avLst/>
          </a:prstGeom>
          <a:ln w="25400">
            <a:solidFill>
              <a:srgbClr val="477A7B"/>
            </a:solidFill>
            <a:tailEnd type="triangle"/>
          </a:ln>
        </p:spPr>
      </p:cxnSp>
      <p:cxnSp>
        <p:nvCxnSpPr>
          <p:cNvPr id="1552147800" name="Line 36"/>
          <p:cNvCxnSpPr/>
          <p:nvPr/>
        </p:nvCxnSpPr>
        <p:spPr bwMode="auto">
          <a:xfrm>
            <a:off x="7315200" y="2496312"/>
            <a:ext cx="274320" cy="0"/>
          </a:xfrm>
          <a:prstGeom prst="line">
            <a:avLst/>
          </a:prstGeom>
          <a:ln w="25400">
            <a:solidFill>
              <a:srgbClr val="477A7B"/>
            </a:solidFill>
            <a:tailEnd type="triangle"/>
          </a:ln>
        </p:spPr>
      </p:cxnSp>
      <p:cxnSp>
        <p:nvCxnSpPr>
          <p:cNvPr id="297189636" name="Line 36"/>
          <p:cNvCxnSpPr/>
          <p:nvPr/>
        </p:nvCxnSpPr>
        <p:spPr bwMode="auto">
          <a:xfrm>
            <a:off x="8732520" y="2496312"/>
            <a:ext cx="274319" cy="0"/>
          </a:xfrm>
          <a:prstGeom prst="line">
            <a:avLst/>
          </a:prstGeom>
          <a:ln w="25400">
            <a:solidFill>
              <a:srgbClr val="477A7B"/>
            </a:solidFill>
            <a:tailEnd type="triangle"/>
          </a:ln>
        </p:spPr>
      </p:cxnSp>
      <p:cxnSp>
        <p:nvCxnSpPr>
          <p:cNvPr id="1190608842" name="Line 36"/>
          <p:cNvCxnSpPr/>
          <p:nvPr/>
        </p:nvCxnSpPr>
        <p:spPr bwMode="auto">
          <a:xfrm>
            <a:off x="10149840" y="2496312"/>
            <a:ext cx="274320" cy="0"/>
          </a:xfrm>
          <a:prstGeom prst="line">
            <a:avLst/>
          </a:prstGeom>
          <a:ln w="25400">
            <a:solidFill>
              <a:srgbClr val="477A7B"/>
            </a:solidFill>
            <a:tailEnd type="triangle"/>
          </a:ln>
        </p:spPr>
      </p:cxnSp>
      <p:sp>
        <p:nvSpPr>
          <p:cNvPr id="493144030" name="Shape 36"/>
          <p:cNvSpPr/>
          <p:nvPr/>
        </p:nvSpPr>
        <p:spPr bwMode="auto">
          <a:xfrm>
            <a:off x="731520" y="3794760"/>
            <a:ext cx="3108960" cy="1463040"/>
          </a:xfrm>
          <a:prstGeom prst="roundRect">
            <a:avLst>
              <a:gd name="adj" fmla="val 16667"/>
            </a:avLst>
          </a:prstGeom>
          <a:solidFill>
            <a:srgbClr val="EEF7F6"/>
          </a:solidFill>
          <a:ln w="12700">
            <a:solidFill>
              <a:srgbClr val="D5E2E2"/>
            </a:solidFill>
          </a:ln>
        </p:spPr>
      </p:sp>
      <p:sp>
        <p:nvSpPr>
          <p:cNvPr id="815530665" name="TextBox 37"/>
          <p:cNvSpPr txBox="1"/>
          <p:nvPr/>
        </p:nvSpPr>
        <p:spPr bwMode="auto">
          <a:xfrm>
            <a:off x="960120" y="3959352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700" b="1">
                <a:solidFill>
                  <a:srgbClr val="2F7D79"/>
                </a:solidFill>
              </a:rPr>
              <a:t>Private access pattern</a:t>
            </a:r>
            <a:endParaRPr/>
          </a:p>
        </p:txBody>
      </p:sp>
      <p:sp>
        <p:nvSpPr>
          <p:cNvPr id="1205596580" name="TextBox 38"/>
          <p:cNvSpPr txBox="1"/>
          <p:nvPr/>
        </p:nvSpPr>
        <p:spPr bwMode="auto">
          <a:xfrm>
            <a:off x="960120" y="4361688"/>
            <a:ext cx="2651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Browser -&gt; SSH tunnel -&gt; Bastion EC2 -&gt; VPC-only OpenSearch Dashboards</a:t>
            </a:r>
            <a:endParaRPr/>
          </a:p>
        </p:txBody>
      </p:sp>
      <p:sp>
        <p:nvSpPr>
          <p:cNvPr id="64178167" name="Shape 39"/>
          <p:cNvSpPr/>
          <p:nvPr/>
        </p:nvSpPr>
        <p:spPr bwMode="auto">
          <a:xfrm>
            <a:off x="4526280" y="3794760"/>
            <a:ext cx="3108960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2"/>
            </a:solidFill>
          </a:ln>
        </p:spPr>
      </p:sp>
      <p:sp>
        <p:nvSpPr>
          <p:cNvPr id="703510703" name="TextBox 40"/>
          <p:cNvSpPr txBox="1"/>
          <p:nvPr/>
        </p:nvSpPr>
        <p:spPr bwMode="auto">
          <a:xfrm>
            <a:off x="4754880" y="3959352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700" b="1">
                <a:solidFill>
                  <a:srgbClr val="2F7D79"/>
                </a:solidFill>
              </a:rPr>
              <a:t>Security controls</a:t>
            </a:r>
            <a:endParaRPr/>
          </a:p>
        </p:txBody>
      </p:sp>
      <p:sp>
        <p:nvSpPr>
          <p:cNvPr id="1587112383" name="TextBox 41"/>
          <p:cNvSpPr txBox="1"/>
          <p:nvPr/>
        </p:nvSpPr>
        <p:spPr bwMode="auto">
          <a:xfrm>
            <a:off x="4754880" y="4361688"/>
            <a:ext cx="2651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Private subnets, security groups, KMS encryption, OpenSearch fine-grained access control</a:t>
            </a:r>
            <a:endParaRPr/>
          </a:p>
        </p:txBody>
      </p:sp>
      <p:sp>
        <p:nvSpPr>
          <p:cNvPr id="931184191" name="Shape 42"/>
          <p:cNvSpPr/>
          <p:nvPr/>
        </p:nvSpPr>
        <p:spPr bwMode="auto">
          <a:xfrm>
            <a:off x="8321039" y="3794760"/>
            <a:ext cx="3108960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2"/>
            </a:solidFill>
          </a:ln>
        </p:spPr>
      </p:sp>
      <p:sp>
        <p:nvSpPr>
          <p:cNvPr id="1932543665" name="TextBox 43"/>
          <p:cNvSpPr txBox="1"/>
          <p:nvPr/>
        </p:nvSpPr>
        <p:spPr bwMode="auto">
          <a:xfrm>
            <a:off x="8549640" y="3959352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700" b="1">
                <a:solidFill>
                  <a:srgbClr val="2F7D79"/>
                </a:solidFill>
              </a:rPr>
              <a:t>Reliability path</a:t>
            </a:r>
            <a:endParaRPr/>
          </a:p>
        </p:txBody>
      </p:sp>
      <p:sp>
        <p:nvSpPr>
          <p:cNvPr id="2109404706" name="TextBox 44"/>
          <p:cNvSpPr txBox="1"/>
          <p:nvPr/>
        </p:nvSpPr>
        <p:spPr bwMode="auto">
          <a:xfrm>
            <a:off x="8549640" y="4361688"/>
            <a:ext cx="2651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Firehose backs up failed delivery records to S3 for troubleshooting and replay analysis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41010" name="Shape 45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</a:ln>
        </p:spPr>
      </p:sp>
      <p:sp>
        <p:nvSpPr>
          <p:cNvPr id="1441485859" name="Shape 46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2F7D79"/>
          </a:solidFill>
          <a:ln w="12700">
            <a:solidFill>
              <a:srgbClr val="2F7D79"/>
            </a:solidFill>
          </a:ln>
        </p:spPr>
      </p:sp>
      <p:sp>
        <p:nvSpPr>
          <p:cNvPr id="869053197" name="TextBox 47"/>
          <p:cNvSpPr txBox="1"/>
          <p:nvPr/>
        </p:nvSpPr>
        <p:spPr bwMode="auto">
          <a:xfrm>
            <a:off x="502920" y="5029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2800" b="1">
                <a:solidFill>
                  <a:srgbClr val="102027"/>
                </a:solidFill>
              </a:rPr>
              <a:t>Terraform Components Built</a:t>
            </a:r>
            <a:endParaRPr/>
          </a:p>
        </p:txBody>
      </p:sp>
      <p:sp>
        <p:nvSpPr>
          <p:cNvPr id="1380776732" name="TextBox 48"/>
          <p:cNvSpPr txBox="1"/>
          <p:nvPr/>
        </p:nvSpPr>
        <p:spPr bwMode="auto">
          <a:xfrm>
            <a:off x="9509760" y="566928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/>
            </a:pPr>
            <a:r>
              <a:rPr lang="en-US" sz="1200" b="0">
                <a:solidFill>
                  <a:srgbClr val="6B7C80"/>
                </a:solidFill>
              </a:rPr>
              <a:t>Implementation</a:t>
            </a:r>
            <a:endParaRPr/>
          </a:p>
        </p:txBody>
      </p:sp>
      <p:sp>
        <p:nvSpPr>
          <p:cNvPr id="1841130366" name="Bullets 49"/>
          <p:cNvSpPr txBox="1"/>
          <p:nvPr/>
        </p:nvSpPr>
        <p:spPr bwMode="auto">
          <a:xfrm>
            <a:off x="777240" y="1234440"/>
            <a:ext cx="5303520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VPC with public and private subnets</a:t>
            </a:r>
            <a:endParaRPr/>
          </a:p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Security groups for private OpenSearch and bastion access</a:t>
            </a:r>
            <a:endParaRPr/>
          </a:p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Private OpenSearch domain for SIEM indexing</a:t>
            </a:r>
            <a:endParaRPr/>
          </a:p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KMS keys for logging and OpenSearch encryption</a:t>
            </a:r>
            <a:endParaRPr/>
          </a:p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CloudTrail trail and CloudWatch log group</a:t>
            </a:r>
            <a:endParaRPr/>
          </a:p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CloudWatch Logs subscription filter</a:t>
            </a:r>
            <a:endParaRPr/>
          </a:p>
        </p:txBody>
      </p:sp>
      <p:sp>
        <p:nvSpPr>
          <p:cNvPr id="1852237777" name="Bullets 50"/>
          <p:cNvSpPr txBox="1"/>
          <p:nvPr/>
        </p:nvSpPr>
        <p:spPr bwMode="auto">
          <a:xfrm>
            <a:off x="6400800" y="1234440"/>
            <a:ext cx="5212080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Kinesis Firehose delivery stream</a:t>
            </a:r>
            <a:endParaRPr/>
          </a:p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Lambda transformer for CloudTrail records</a:t>
            </a:r>
            <a:endParaRPr/>
          </a:p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S3 Firehose backup bucket for failed records</a:t>
            </a:r>
            <a:endParaRPr/>
          </a:p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OpenSearch role mapping for Firehose ingestion</a:t>
            </a:r>
            <a:endParaRPr/>
          </a:p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Index template and initial cloudtrail-logs index</a:t>
            </a:r>
            <a:endParaRPr/>
          </a:p>
          <a:p>
            <a:pPr marL="285750" indent="-171450">
              <a:buChar char="•"/>
              <a:defRPr/>
            </a:pPr>
            <a:r>
              <a:rPr lang="en-US" sz="1900">
                <a:solidFill>
                  <a:srgbClr val="263238"/>
                </a:solidFill>
              </a:rPr>
              <a:t>Temporary bastion path for Dashboards access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002077" name="Shape 5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</a:ln>
        </p:spPr>
      </p:sp>
      <p:sp>
        <p:nvSpPr>
          <p:cNvPr id="339789149" name="Shape 52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2F7D79"/>
          </a:solidFill>
          <a:ln w="12700">
            <a:solidFill>
              <a:srgbClr val="2F7D79"/>
            </a:solidFill>
          </a:ln>
        </p:spPr>
      </p:sp>
      <p:sp>
        <p:nvSpPr>
          <p:cNvPr id="1944777984" name="TextBox 53"/>
          <p:cNvSpPr txBox="1"/>
          <p:nvPr/>
        </p:nvSpPr>
        <p:spPr bwMode="auto">
          <a:xfrm>
            <a:off x="502920" y="5029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2800" b="1">
                <a:solidFill>
                  <a:srgbClr val="102027"/>
                </a:solidFill>
              </a:rPr>
              <a:t>Evidence That The Pipeline Worked</a:t>
            </a:r>
            <a:endParaRPr/>
          </a:p>
        </p:txBody>
      </p:sp>
      <p:sp>
        <p:nvSpPr>
          <p:cNvPr id="556763110" name="TextBox 54"/>
          <p:cNvSpPr txBox="1"/>
          <p:nvPr/>
        </p:nvSpPr>
        <p:spPr bwMode="auto">
          <a:xfrm>
            <a:off x="9509760" y="566928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/>
            </a:pPr>
            <a:r>
              <a:rPr lang="en-US" sz="1200" b="0">
                <a:solidFill>
                  <a:srgbClr val="6B7C80"/>
                </a:solidFill>
              </a:rPr>
              <a:t>Validation</a:t>
            </a:r>
            <a:endParaRPr/>
          </a:p>
        </p:txBody>
      </p:sp>
      <p:sp>
        <p:nvSpPr>
          <p:cNvPr id="486084656" name="Shape 55"/>
          <p:cNvSpPr/>
          <p:nvPr/>
        </p:nvSpPr>
        <p:spPr bwMode="auto">
          <a:xfrm>
            <a:off x="594360" y="1280160"/>
            <a:ext cx="3383280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2"/>
            </a:solidFill>
          </a:ln>
        </p:spPr>
      </p:sp>
      <p:sp>
        <p:nvSpPr>
          <p:cNvPr id="1823793258" name="TextBox 56"/>
          <p:cNvSpPr txBox="1"/>
          <p:nvPr/>
        </p:nvSpPr>
        <p:spPr bwMode="auto">
          <a:xfrm>
            <a:off x="822960" y="1444751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700" b="1">
                <a:solidFill>
                  <a:srgbClr val="2F7D79"/>
                </a:solidFill>
              </a:rPr>
              <a:t>Ingestion</a:t>
            </a:r>
            <a:endParaRPr/>
          </a:p>
        </p:txBody>
      </p:sp>
      <p:sp>
        <p:nvSpPr>
          <p:cNvPr id="959219094" name="TextBox 57"/>
          <p:cNvSpPr txBox="1"/>
          <p:nvPr/>
        </p:nvSpPr>
        <p:spPr bwMode="auto">
          <a:xfrm>
            <a:off x="822960" y="1847088"/>
            <a:ext cx="29260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CloudTrail logging was enabled and delivered events to CloudWatch Logs.</a:t>
            </a:r>
            <a:endParaRPr/>
          </a:p>
        </p:txBody>
      </p:sp>
      <p:sp>
        <p:nvSpPr>
          <p:cNvPr id="874573560" name="Shape 58"/>
          <p:cNvSpPr/>
          <p:nvPr/>
        </p:nvSpPr>
        <p:spPr bwMode="auto">
          <a:xfrm>
            <a:off x="4389120" y="1280160"/>
            <a:ext cx="3383280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2"/>
            </a:solidFill>
          </a:ln>
        </p:spPr>
      </p:sp>
      <p:sp>
        <p:nvSpPr>
          <p:cNvPr id="704023281" name="TextBox 59"/>
          <p:cNvSpPr txBox="1"/>
          <p:nvPr/>
        </p:nvSpPr>
        <p:spPr bwMode="auto">
          <a:xfrm>
            <a:off x="4617720" y="1444751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700" b="1">
                <a:solidFill>
                  <a:srgbClr val="2F7D79"/>
                </a:solidFill>
              </a:rPr>
              <a:t>Processing</a:t>
            </a:r>
            <a:endParaRPr/>
          </a:p>
        </p:txBody>
      </p:sp>
      <p:sp>
        <p:nvSpPr>
          <p:cNvPr id="101456100" name="TextBox 60"/>
          <p:cNvSpPr txBox="1"/>
          <p:nvPr/>
        </p:nvSpPr>
        <p:spPr bwMode="auto">
          <a:xfrm>
            <a:off x="4617720" y="1847088"/>
            <a:ext cx="29260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Firehose was ACTIVE. Lambda transformer logs showed DATA_MESSAGE records and result: Ok.</a:t>
            </a:r>
            <a:endParaRPr/>
          </a:p>
        </p:txBody>
      </p:sp>
      <p:sp>
        <p:nvSpPr>
          <p:cNvPr id="1291577161" name="Shape 61"/>
          <p:cNvSpPr/>
          <p:nvPr/>
        </p:nvSpPr>
        <p:spPr bwMode="auto">
          <a:xfrm>
            <a:off x="8183879" y="1280160"/>
            <a:ext cx="3383280" cy="13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2"/>
            </a:solidFill>
          </a:ln>
        </p:spPr>
      </p:sp>
      <p:sp>
        <p:nvSpPr>
          <p:cNvPr id="195462731" name="TextBox 62"/>
          <p:cNvSpPr txBox="1"/>
          <p:nvPr/>
        </p:nvSpPr>
        <p:spPr bwMode="auto">
          <a:xfrm>
            <a:off x="8412480" y="1444751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700" b="1">
                <a:solidFill>
                  <a:srgbClr val="2F7D79"/>
                </a:solidFill>
              </a:rPr>
              <a:t>Search</a:t>
            </a:r>
            <a:endParaRPr/>
          </a:p>
        </p:txBody>
      </p:sp>
      <p:sp>
        <p:nvSpPr>
          <p:cNvPr id="161732513" name="TextBox 63"/>
          <p:cNvSpPr txBox="1"/>
          <p:nvPr/>
        </p:nvSpPr>
        <p:spPr bwMode="auto">
          <a:xfrm>
            <a:off x="8412480" y="1847088"/>
            <a:ext cx="29260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OpenSearch cluster was green and Discover showed hits in cloudtrail-logs*.</a:t>
            </a:r>
            <a:endParaRPr/>
          </a:p>
        </p:txBody>
      </p:sp>
      <p:sp>
        <p:nvSpPr>
          <p:cNvPr id="1059003216" name="TextBox 64"/>
          <p:cNvSpPr txBox="1"/>
          <p:nvPr/>
        </p:nvSpPr>
        <p:spPr bwMode="auto">
          <a:xfrm>
            <a:off x="777240" y="3246120"/>
            <a:ext cx="10698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2000" b="1">
                <a:solidFill>
                  <a:srgbClr val="102027"/>
                </a:solidFill>
              </a:rPr>
              <a:t>Fields seen in OpenSearch Dashboards</a:t>
            </a:r>
            <a:endParaRPr/>
          </a:p>
        </p:txBody>
      </p:sp>
      <p:sp>
        <p:nvSpPr>
          <p:cNvPr id="1487295883" name="Bullets 65"/>
          <p:cNvSpPr txBox="1"/>
          <p:nvPr/>
        </p:nvSpPr>
        <p:spPr bwMode="auto">
          <a:xfrm>
            <a:off x="914400" y="3767328"/>
            <a:ext cx="105156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171450">
              <a:buChar char="•"/>
              <a:defRPr/>
            </a:pPr>
            <a:r>
              <a:rPr lang="en-US" sz="1700">
                <a:solidFill>
                  <a:srgbClr val="263238"/>
                </a:solidFill>
              </a:rPr>
              <a:t>owner: 152617279670</a:t>
            </a:r>
            <a:endParaRPr/>
          </a:p>
          <a:p>
            <a:pPr marL="285750" indent="-171450">
              <a:buChar char="•"/>
              <a:defRPr/>
            </a:pPr>
            <a:r>
              <a:rPr lang="en-US" sz="1700">
                <a:solidFill>
                  <a:srgbClr val="263238"/>
                </a:solidFill>
              </a:rPr>
              <a:t>log_group: /aws/cloudtrail/organization</a:t>
            </a:r>
            <a:endParaRPr/>
          </a:p>
          <a:p>
            <a:pPr marL="285750" indent="-171450">
              <a:buChar char="•"/>
              <a:defRPr/>
            </a:pPr>
            <a:r>
              <a:rPr lang="en-US" sz="1700">
                <a:solidFill>
                  <a:srgbClr val="263238"/>
                </a:solidFill>
              </a:rPr>
              <a:t>log_stream: 152617279670_CloudTrail_us-east-1</a:t>
            </a:r>
            <a:endParaRPr/>
          </a:p>
          <a:p>
            <a:pPr marL="285750" indent="-171450">
              <a:buChar char="•"/>
              <a:defRPr/>
            </a:pPr>
            <a:r>
              <a:rPr lang="en-US" sz="1700">
                <a:solidFill>
                  <a:srgbClr val="263238"/>
                </a:solidFill>
              </a:rPr>
              <a:t>subscription_filters: development-cloudtrail-to-firehose</a:t>
            </a:r>
            <a:endParaRPr/>
          </a:p>
          <a:p>
            <a:pPr marL="285750" indent="-171450">
              <a:buChar char="•"/>
              <a:defRPr/>
            </a:pPr>
            <a:r>
              <a:rPr lang="en-US" sz="1700">
                <a:solidFill>
                  <a:srgbClr val="263238"/>
                </a:solidFill>
              </a:rPr>
              <a:t>event_names: GetBucketAcl, GenerateDataKey, DescribeMetricFilters, AssumeRole</a:t>
            </a:r>
            <a:endParaRPr/>
          </a:p>
        </p:txBody>
      </p:sp>
      <p:sp>
        <p:nvSpPr>
          <p:cNvPr id="1005737344" name="Shape 66"/>
          <p:cNvSpPr/>
          <p:nvPr/>
        </p:nvSpPr>
        <p:spPr bwMode="auto">
          <a:xfrm>
            <a:off x="594360" y="5897880"/>
            <a:ext cx="10972800" cy="411480"/>
          </a:xfrm>
          <a:prstGeom prst="roundRect">
            <a:avLst>
              <a:gd name="adj" fmla="val 16667"/>
            </a:avLst>
          </a:prstGeom>
          <a:solidFill>
            <a:srgbClr val="E7F3F2"/>
          </a:solidFill>
          <a:ln w="12700">
            <a:solidFill>
              <a:srgbClr val="C4DEDC"/>
            </a:solidFill>
          </a:ln>
        </p:spPr>
      </p:sp>
      <p:sp>
        <p:nvSpPr>
          <p:cNvPr id="2032858972" name="TextBox 67"/>
          <p:cNvSpPr txBox="1"/>
          <p:nvPr/>
        </p:nvSpPr>
        <p:spPr bwMode="auto">
          <a:xfrm>
            <a:off x="868680" y="5971032"/>
            <a:ext cx="10424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/>
            </a:pPr>
            <a:r>
              <a:rPr lang="en-US" sz="1500" b="1">
                <a:solidFill>
                  <a:srgbClr val="2F4F4F"/>
                </a:solidFill>
              </a:rPr>
              <a:t>Conclusion: real CloudTrail events from the AWS account were transformed, indexed, and searchable.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897641" name="Shape 68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</a:ln>
        </p:spPr>
      </p:sp>
      <p:sp>
        <p:nvSpPr>
          <p:cNvPr id="1840793072" name="Shape 69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2F7D79"/>
          </a:solidFill>
          <a:ln w="12700">
            <a:solidFill>
              <a:srgbClr val="2F7D79"/>
            </a:solidFill>
          </a:ln>
        </p:spPr>
      </p:sp>
      <p:sp>
        <p:nvSpPr>
          <p:cNvPr id="638006894" name="TextBox 70"/>
          <p:cNvSpPr txBox="1"/>
          <p:nvPr/>
        </p:nvSpPr>
        <p:spPr bwMode="auto">
          <a:xfrm>
            <a:off x="502920" y="5029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2800" b="1">
                <a:solidFill>
                  <a:srgbClr val="102027"/>
                </a:solidFill>
              </a:rPr>
              <a:t>What The OpenSearch View Demonstrated</a:t>
            </a:r>
            <a:endParaRPr/>
          </a:p>
        </p:txBody>
      </p:sp>
      <p:sp>
        <p:nvSpPr>
          <p:cNvPr id="792836651" name="TextBox 71"/>
          <p:cNvSpPr txBox="1"/>
          <p:nvPr/>
        </p:nvSpPr>
        <p:spPr bwMode="auto">
          <a:xfrm>
            <a:off x="9509760" y="566928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/>
            </a:pPr>
            <a:r>
              <a:rPr lang="en-US" sz="1200" b="0">
                <a:solidFill>
                  <a:srgbClr val="6B7C80"/>
                </a:solidFill>
              </a:rPr>
              <a:t>Dashboard</a:t>
            </a:r>
            <a:endParaRPr/>
          </a:p>
        </p:txBody>
      </p:sp>
      <p:sp>
        <p:nvSpPr>
          <p:cNvPr id="653349469" name="Bullets 72"/>
          <p:cNvSpPr txBox="1"/>
          <p:nvPr/>
        </p:nvSpPr>
        <p:spPr bwMode="auto">
          <a:xfrm>
            <a:off x="777240" y="1143000"/>
            <a:ext cx="10698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171450">
              <a:buChar char="•"/>
              <a:defRPr/>
            </a:pPr>
            <a:r>
              <a:rPr lang="en-US" sz="2200">
                <a:solidFill>
                  <a:srgbClr val="263238"/>
                </a:solidFill>
              </a:rPr>
              <a:t>Discover showed the cloudtrail-logs* data view with time-based CloudTrail events.</a:t>
            </a:r>
            <a:endParaRPr/>
          </a:p>
          <a:p>
            <a:pPr marL="285750" indent="-171450">
              <a:buChar char="•"/>
              <a:defRPr/>
            </a:pPr>
            <a:r>
              <a:rPr lang="en-US" sz="2200">
                <a:solidFill>
                  <a:srgbClr val="263238"/>
                </a:solidFill>
              </a:rPr>
              <a:t>The owner field matched AWS account 152617279670.</a:t>
            </a:r>
            <a:endParaRPr/>
          </a:p>
          <a:p>
            <a:pPr marL="285750" indent="-171450">
              <a:buChar char="•"/>
              <a:defRPr/>
            </a:pPr>
            <a:r>
              <a:rPr lang="en-US" sz="2200">
                <a:solidFill>
                  <a:srgbClr val="263238"/>
                </a:solidFill>
              </a:rPr>
              <a:t>Events included AWS service activity such as KMS, S3, STS, CloudTrail, and OpenSearch-related actions.</a:t>
            </a:r>
            <a:endParaRPr/>
          </a:p>
          <a:p>
            <a:pPr marL="285750" indent="-171450">
              <a:buChar char="•"/>
              <a:defRPr/>
            </a:pPr>
            <a:r>
              <a:rPr lang="en-US" sz="2200">
                <a:solidFill>
                  <a:srgbClr val="263238"/>
                </a:solidFill>
              </a:rPr>
              <a:t>Searchable fields included event names, event sources, regions, usernames, identity types, source IPs, and error codes.</a:t>
            </a:r>
            <a:endParaRPr/>
          </a:p>
        </p:txBody>
      </p:sp>
      <p:sp>
        <p:nvSpPr>
          <p:cNvPr id="37678068" name="Shape 73"/>
          <p:cNvSpPr/>
          <p:nvPr/>
        </p:nvSpPr>
        <p:spPr bwMode="auto">
          <a:xfrm>
            <a:off x="914400" y="4892039"/>
            <a:ext cx="4937760" cy="960120"/>
          </a:xfrm>
          <a:prstGeom prst="roundRect">
            <a:avLst>
              <a:gd name="adj" fmla="val 16667"/>
            </a:avLst>
          </a:prstGeom>
          <a:solidFill>
            <a:srgbClr val="EEF7F6"/>
          </a:solidFill>
          <a:ln w="12700">
            <a:solidFill>
              <a:srgbClr val="D5E2E2"/>
            </a:solidFill>
          </a:ln>
        </p:spPr>
      </p:sp>
      <p:sp>
        <p:nvSpPr>
          <p:cNvPr id="1474247219" name="TextBox 74"/>
          <p:cNvSpPr txBox="1"/>
          <p:nvPr/>
        </p:nvSpPr>
        <p:spPr bwMode="auto">
          <a:xfrm>
            <a:off x="1143000" y="5056631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700" b="1">
                <a:solidFill>
                  <a:srgbClr val="2F7D79"/>
                </a:solidFill>
              </a:rPr>
              <a:t>SOC value</a:t>
            </a:r>
            <a:endParaRPr/>
          </a:p>
        </p:txBody>
      </p:sp>
      <p:sp>
        <p:nvSpPr>
          <p:cNvPr id="876325878" name="TextBox 75"/>
          <p:cNvSpPr txBox="1"/>
          <p:nvPr/>
        </p:nvSpPr>
        <p:spPr bwMode="auto">
          <a:xfrm>
            <a:off x="1143000" y="5458968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Analysts can ask: who did what, from where, against which AWS service, and when?</a:t>
            </a:r>
            <a:endParaRPr/>
          </a:p>
        </p:txBody>
      </p:sp>
      <p:sp>
        <p:nvSpPr>
          <p:cNvPr id="98681085" name="Shape 76"/>
          <p:cNvSpPr/>
          <p:nvPr/>
        </p:nvSpPr>
        <p:spPr bwMode="auto">
          <a:xfrm>
            <a:off x="6355080" y="4892039"/>
            <a:ext cx="4937760" cy="96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2"/>
            </a:solidFill>
          </a:ln>
        </p:spPr>
      </p:sp>
      <p:sp>
        <p:nvSpPr>
          <p:cNvPr id="670106696" name="TextBox 77"/>
          <p:cNvSpPr txBox="1"/>
          <p:nvPr/>
        </p:nvSpPr>
        <p:spPr bwMode="auto">
          <a:xfrm>
            <a:off x="6583680" y="5056631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700" b="1">
                <a:solidFill>
                  <a:srgbClr val="2F7D79"/>
                </a:solidFill>
              </a:rPr>
              <a:t>Engineering value</a:t>
            </a:r>
            <a:endParaRPr/>
          </a:p>
        </p:txBody>
      </p:sp>
      <p:sp>
        <p:nvSpPr>
          <p:cNvPr id="1396143602" name="TextBox 78"/>
          <p:cNvSpPr txBox="1"/>
          <p:nvPr/>
        </p:nvSpPr>
        <p:spPr bwMode="auto">
          <a:xfrm>
            <a:off x="6583680" y="5458968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Failures are diagnosable through Lambda logs, Firehose metrics, and S3 failed-record backup.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633089" name="Shape 79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</a:ln>
        </p:spPr>
      </p:sp>
      <p:sp>
        <p:nvSpPr>
          <p:cNvPr id="943677905" name="Shape 8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2F7D79"/>
          </a:solidFill>
          <a:ln w="12700">
            <a:solidFill>
              <a:srgbClr val="2F7D79"/>
            </a:solidFill>
          </a:ln>
        </p:spPr>
      </p:sp>
      <p:sp>
        <p:nvSpPr>
          <p:cNvPr id="217246065" name="TextBox 81"/>
          <p:cNvSpPr txBox="1"/>
          <p:nvPr/>
        </p:nvSpPr>
        <p:spPr bwMode="auto">
          <a:xfrm>
            <a:off x="502920" y="5029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2800" b="1">
                <a:solidFill>
                  <a:srgbClr val="102027"/>
                </a:solidFill>
              </a:rPr>
              <a:t>SIEM Capabilities: Current vs Enterprise</a:t>
            </a:r>
            <a:endParaRPr/>
          </a:p>
        </p:txBody>
      </p:sp>
      <p:sp>
        <p:nvSpPr>
          <p:cNvPr id="84201865" name="TextBox 82"/>
          <p:cNvSpPr txBox="1"/>
          <p:nvPr/>
        </p:nvSpPr>
        <p:spPr bwMode="auto">
          <a:xfrm>
            <a:off x="9509760" y="566928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/>
            </a:pPr>
            <a:r>
              <a:rPr lang="en-US" sz="1200" b="0">
                <a:solidFill>
                  <a:srgbClr val="6B7C80"/>
                </a:solidFill>
              </a:rPr>
              <a:t>Maturity</a:t>
            </a:r>
            <a:endParaRPr/>
          </a:p>
        </p:txBody>
      </p:sp>
      <p:sp>
        <p:nvSpPr>
          <p:cNvPr id="984050850" name="Shape 83"/>
          <p:cNvSpPr/>
          <p:nvPr/>
        </p:nvSpPr>
        <p:spPr bwMode="auto">
          <a:xfrm>
            <a:off x="685800" y="1188720"/>
            <a:ext cx="5303520" cy="4343400"/>
          </a:xfrm>
          <a:prstGeom prst="roundRect">
            <a:avLst>
              <a:gd name="adj" fmla="val 16667"/>
            </a:avLst>
          </a:prstGeom>
          <a:solidFill>
            <a:srgbClr val="EEF7F6"/>
          </a:solidFill>
          <a:ln w="12700">
            <a:solidFill>
              <a:srgbClr val="D5E2E2"/>
            </a:solidFill>
          </a:ln>
        </p:spPr>
      </p:sp>
      <p:sp>
        <p:nvSpPr>
          <p:cNvPr id="1924463169" name="TextBox 84"/>
          <p:cNvSpPr txBox="1"/>
          <p:nvPr/>
        </p:nvSpPr>
        <p:spPr bwMode="auto">
          <a:xfrm>
            <a:off x="914400" y="1353312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700" b="1">
                <a:solidFill>
                  <a:srgbClr val="2F7D79"/>
                </a:solidFill>
              </a:rPr>
              <a:t>Working now</a:t>
            </a:r>
            <a:endParaRPr/>
          </a:p>
        </p:txBody>
      </p:sp>
      <p:sp>
        <p:nvSpPr>
          <p:cNvPr id="655350686" name="TextBox 85"/>
          <p:cNvSpPr txBox="1"/>
          <p:nvPr/>
        </p:nvSpPr>
        <p:spPr bwMode="auto">
          <a:xfrm>
            <a:off x="914400" y="1755648"/>
            <a:ext cx="48463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CloudTrail collection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CloudWatch Logs ingestion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Firehose delivery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Lambda transformation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OpenSearch indexing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Dashboards investigation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Private bastion/tunnel access</a:t>
            </a:r>
            <a:endParaRPr/>
          </a:p>
        </p:txBody>
      </p:sp>
      <p:sp>
        <p:nvSpPr>
          <p:cNvPr id="1673730764" name="Shape 86"/>
          <p:cNvSpPr/>
          <p:nvPr/>
        </p:nvSpPr>
        <p:spPr bwMode="auto">
          <a:xfrm>
            <a:off x="6217920" y="1188720"/>
            <a:ext cx="5303520" cy="434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E2E2"/>
            </a:solidFill>
          </a:ln>
        </p:spPr>
      </p:sp>
      <p:sp>
        <p:nvSpPr>
          <p:cNvPr id="307581450" name="TextBox 87"/>
          <p:cNvSpPr txBox="1"/>
          <p:nvPr/>
        </p:nvSpPr>
        <p:spPr bwMode="auto">
          <a:xfrm>
            <a:off x="6446520" y="1353312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700" b="1">
                <a:solidFill>
                  <a:srgbClr val="2F7D79"/>
                </a:solidFill>
              </a:rPr>
              <a:t>Next enterprise layer</a:t>
            </a:r>
            <a:endParaRPr/>
          </a:p>
        </p:txBody>
      </p:sp>
      <p:sp>
        <p:nvSpPr>
          <p:cNvPr id="875958381" name="TextBox 88"/>
          <p:cNvSpPr txBox="1"/>
          <p:nvPr/>
        </p:nvSpPr>
        <p:spPr bwMode="auto">
          <a:xfrm>
            <a:off x="6446520" y="1755648"/>
            <a:ext cx="48463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Detection rules and alerts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SOC dashboards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GuardDuty/Security Hub ingestion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VPC Flow Logs ingestion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Incident workflow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Index lifecycle management</a:t>
            </a:r>
            <a:endParaRPr/>
          </a:p>
          <a:p>
            <a:pPr algn="l">
              <a:defRPr/>
            </a:pPr>
            <a:r>
              <a:rPr lang="en-US" sz="1500" b="0">
                <a:solidFill>
                  <a:srgbClr val="263238"/>
                </a:solidFill>
              </a:rPr>
              <a:t>Least-privilege SOC roles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221421" name="Shape 10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</a:ln>
        </p:spPr>
      </p:sp>
      <p:sp>
        <p:nvSpPr>
          <p:cNvPr id="205663772" name="Shape 102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2F7D79"/>
          </a:solidFill>
          <a:ln w="12700">
            <a:solidFill>
              <a:srgbClr val="2F7D79"/>
            </a:solidFill>
          </a:ln>
        </p:spPr>
      </p:sp>
      <p:sp>
        <p:nvSpPr>
          <p:cNvPr id="422708160" name="TextBox 103"/>
          <p:cNvSpPr txBox="1"/>
          <p:nvPr/>
        </p:nvSpPr>
        <p:spPr bwMode="auto">
          <a:xfrm>
            <a:off x="502920" y="50292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/>
            </a:pPr>
            <a:r>
              <a:rPr lang="en-US" sz="2800" b="1">
                <a:solidFill>
                  <a:srgbClr val="102027"/>
                </a:solidFill>
              </a:rPr>
              <a:t>Recommended Next Steps</a:t>
            </a:r>
            <a:endParaRPr/>
          </a:p>
        </p:txBody>
      </p:sp>
      <p:sp>
        <p:nvSpPr>
          <p:cNvPr id="251785999" name="TextBox 104"/>
          <p:cNvSpPr txBox="1"/>
          <p:nvPr/>
        </p:nvSpPr>
        <p:spPr bwMode="auto">
          <a:xfrm>
            <a:off x="9509760" y="566928"/>
            <a:ext cx="2103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/>
            </a:pPr>
            <a:r>
              <a:rPr lang="en-US" sz="1200" b="0">
                <a:solidFill>
                  <a:srgbClr val="6B7C80"/>
                </a:solidFill>
              </a:rPr>
              <a:t>Roadmap</a:t>
            </a:r>
            <a:endParaRPr/>
          </a:p>
        </p:txBody>
      </p:sp>
      <p:sp>
        <p:nvSpPr>
          <p:cNvPr id="309772589" name="Bullets 105"/>
          <p:cNvSpPr txBox="1"/>
          <p:nvPr/>
        </p:nvSpPr>
        <p:spPr bwMode="auto">
          <a:xfrm>
            <a:off x="777240" y="1097280"/>
            <a:ext cx="10698480" cy="4480560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171450">
              <a:buChar char="•"/>
              <a:defRPr/>
            </a:pPr>
            <a:r>
              <a:rPr lang="en-US" sz="2000">
                <a:solidFill>
                  <a:srgbClr val="263238"/>
                </a:solidFill>
              </a:rPr>
              <a:t>Add detection monitors: root usage, failed console logins, IAM policy changes, CloudTrail changes, public S3 changes.</a:t>
            </a:r>
            <a:endParaRPr/>
          </a:p>
          <a:p>
            <a:pPr marL="285750" indent="-171450">
              <a:buChar char="•"/>
              <a:defRPr/>
            </a:pPr>
            <a:r>
              <a:rPr lang="en-US" sz="2000">
                <a:solidFill>
                  <a:srgbClr val="263238"/>
                </a:solidFill>
              </a:rPr>
              <a:t>Ingest GuardDuty, Security Hub, and VPC Flow Logs for broader coverage.</a:t>
            </a:r>
            <a:endParaRPr/>
          </a:p>
          <a:p>
            <a:pPr marL="285750" indent="-171450">
              <a:buChar char="•"/>
              <a:defRPr/>
            </a:pPr>
            <a:r>
              <a:rPr lang="en-US" sz="2000">
                <a:solidFill>
                  <a:srgbClr val="263238"/>
                </a:solidFill>
              </a:rPr>
              <a:t>Build dashboards for authentication, IAM changes, source IP activity, and high-risk AWS API calls.</a:t>
            </a:r>
            <a:endParaRPr/>
          </a:p>
          <a:p>
            <a:pPr marL="285750" indent="-171450">
              <a:buChar char="•"/>
              <a:defRPr/>
            </a:pPr>
            <a:r>
              <a:rPr lang="en-US" sz="2000">
                <a:solidFill>
                  <a:srgbClr val="263238"/>
                </a:solidFill>
              </a:rPr>
              <a:t>Add SNS, Slack, or email alerting for detection rules.</a:t>
            </a:r>
            <a:endParaRPr/>
          </a:p>
          <a:p>
            <a:pPr marL="285750" indent="-171450">
              <a:buChar char="•"/>
              <a:defRPr/>
            </a:pPr>
            <a:r>
              <a:rPr lang="en-US" sz="2000">
                <a:solidFill>
                  <a:srgbClr val="263238"/>
                </a:solidFill>
              </a:rPr>
              <a:t>Move Terraform state to a remote backend with locking for team usage.</a:t>
            </a:r>
            <a:endParaRPr/>
          </a:p>
          <a:p>
            <a:pPr marL="285750" indent="-171450">
              <a:buChar char="•"/>
              <a:defRPr/>
            </a:pPr>
            <a:r>
              <a:rPr lang="en-US" sz="2000">
                <a:solidFill>
                  <a:srgbClr val="263238"/>
                </a:solidFill>
              </a:rPr>
              <a:t>Replace ad hoc bastion access with SSM Session Manager or VPN for a production pattern.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EM Theme">
  <a:themeElements>
    <a:clrScheme name="SIEM">
      <a:dk1>
        <a:srgbClr val="102027"/>
      </a:dk1>
      <a:lt1>
        <a:srgbClr val="F7FAFA"/>
      </a:lt1>
      <a:dk2>
        <a:srgbClr val="263238"/>
      </a:dk2>
      <a:lt2>
        <a:srgbClr val="FFFFFF"/>
      </a:lt2>
      <a:accent1>
        <a:srgbClr val="2F7D79"/>
      </a:accent1>
      <a:accent2>
        <a:srgbClr val="8DB8B5"/>
      </a:accent2>
      <a:accent3>
        <a:srgbClr val="E4B96D"/>
      </a:accent3>
      <a:accent4>
        <a:srgbClr val="6B7C80"/>
      </a:accent4>
      <a:accent5>
        <a:srgbClr val="C4DEDC"/>
      </a:accent5>
      <a:accent6>
        <a:srgbClr val="FCEFD7"/>
      </a:accent6>
      <a:hlink>
        <a:srgbClr val="2F7D79"/>
      </a:hlink>
      <a:folHlink>
        <a:srgbClr val="6B7C80"/>
      </a:folHlink>
    </a:clrScheme>
    <a:fontScheme name="Aptos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Default">
      <a:fillStyleLst>
        <a:solidFill>
          <a:schemeClr val="phClr"/>
        </a:solidFill>
        <a:solidFill>
          <a:srgbClr val="000000"/>
        </a:solidFill>
        <a:solidFill>
          <a:srgbClr val="000000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  <a:solidFill>
          <a:srgbClr val="000000"/>
        </a:solidFill>
        <a:solidFill>
          <a:srgbClr val="000000"/>
        </a:soli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SIEM Theme">
  <a:themeElements>
    <a:clrScheme name="SIEM">
      <a:dk1>
        <a:srgbClr val="102027"/>
      </a:dk1>
      <a:lt1>
        <a:srgbClr val="F7FAFA"/>
      </a:lt1>
      <a:dk2>
        <a:srgbClr val="263238"/>
      </a:dk2>
      <a:lt2>
        <a:srgbClr val="FFFFFF"/>
      </a:lt2>
      <a:accent1>
        <a:srgbClr val="2F7D79"/>
      </a:accent1>
      <a:accent2>
        <a:srgbClr val="8DB8B5"/>
      </a:accent2>
      <a:accent3>
        <a:srgbClr val="E4B96D"/>
      </a:accent3>
      <a:accent4>
        <a:srgbClr val="6B7C80"/>
      </a:accent4>
      <a:accent5>
        <a:srgbClr val="C4DEDC"/>
      </a:accent5>
      <a:accent6>
        <a:srgbClr val="FCEFD7"/>
      </a:accent6>
      <a:hlink>
        <a:srgbClr val="2F7D79"/>
      </a:hlink>
      <a:folHlink>
        <a:srgbClr val="6B7C80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Default">
      <a:fillStyleLst>
        <a:solidFill>
          <a:schemeClr val="phClr"/>
        </a:solidFill>
        <a:solidFill>
          <a:srgbClr val="000000"/>
        </a:solidFill>
        <a:solidFill>
          <a:srgbClr val="000000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  <a:solidFill>
          <a:srgbClr val="000000"/>
        </a:solidFill>
        <a:solidFill>
          <a:srgbClr val="000000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OpenSearch SIEM Proof of Concept</dc:title>
  <dc:subject>Security telemetry pipeline demo</dc:subject>
  <dc:creator>Codex</dc:creator>
  <cp:lastModifiedBy/>
  <cp:revision>1</cp:revision>
  <dcterms:modified xsi:type="dcterms:W3CDTF">2026-05-16T11:56:33Z</dcterms:modified>
</cp:coreProperties>
</file>